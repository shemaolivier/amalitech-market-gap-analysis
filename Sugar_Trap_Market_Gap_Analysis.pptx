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926080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1A40"/>
                </a:solidFill>
                <a:latin typeface="Calibri"/>
              </a:rPr>
              <a:t>HELIX CPG PARTNERS  |  STRATEGIC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Georgia"/>
              </a:rPr>
              <a:t>The Sugar Trap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2C39A"/>
                </a:solidFill>
                <a:latin typeface="Calibri"/>
              </a:rPr>
              <a:t>Market Gap Analysis: Finding the Blue Ocean in the Snack Aisle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49039"/>
            <a:ext cx="7772400" cy="36576"/>
          </a:xfrm>
          <a:prstGeom prst="rect">
            <a:avLst/>
          </a:prstGeom>
          <a:solidFill>
            <a:srgbClr val="334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Analyst: [Your Name]   |   Data Engineering Track   |   Open Food Facts Dataset   |   500,000 Products Analysed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3367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1A40"/>
                </a:solidFill>
                <a:latin typeface="Calibri"/>
              </a:rPr>
              <a:t>AmaliTech Data Engineering Challenge  | 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Georgia"/>
              </a:rPr>
              <a:t>The Business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41148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alibri"/>
              </a:rPr>
              <a:t>CLIENT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Helix CPG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A global snack manufacturer wants to launch a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Healthy Snacking line. They believe the market is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oversaturated with sugary treats, but lack the data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to prove where the specific gaps are.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They hired us to answer one question: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023360"/>
            <a:ext cx="5074920" cy="10058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02C39A"/>
                </a:solidFill>
                <a:latin typeface="Calibri"/>
              </a:rPr>
              <a:t>"Where is the Blue Ocean in the snack aisle?"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051560"/>
            <a:ext cx="5943600" cy="50292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alibri"/>
              </a:rPr>
              <a:t>OUR 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91640"/>
            <a:ext cx="50292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691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Identify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categories dominated
by sugar-heavy products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154680"/>
            <a:ext cx="50292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154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Quantify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50215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the gap between current
offerings and health demand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617720"/>
            <a:ext cx="50292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4617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617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Recommend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96519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 specific product category
for new product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Georgia"/>
              </a:rPr>
              <a:t>Data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41148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6517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07007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2C39A"/>
                </a:solidFill>
                <a:latin typeface="Calibri"/>
              </a:rPr>
              <a:t>500K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5564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Products Analysed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97280"/>
            <a:ext cx="26517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207007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39C12"/>
                </a:solidFill>
                <a:latin typeface="Calibri"/>
              </a:rPr>
              <a:t>180+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5564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Raw Columns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26517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07007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CC71"/>
                </a:solidFill>
                <a:latin typeface="Calibr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5564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Product Categories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097280"/>
            <a:ext cx="26517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207007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6C63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75564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Nutrient Dimensions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423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ANALYSIS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34640"/>
            <a:ext cx="210312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834640"/>
            <a:ext cx="2103120" cy="4572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8620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STEP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36499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INGEST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84048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Load first 500K rows
from Open Food Facts CSV
(tab-separated)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79" y="41148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79" y="2834640"/>
            <a:ext cx="210312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97479" y="2834640"/>
            <a:ext cx="2103120" cy="4572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70632" y="28620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STEP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7208" y="336499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CLEAN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7208" y="384048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Drop null critical fields
Filter impossible values
(0–100g nutrients, 0–3700kcal)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41148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2834640"/>
            <a:ext cx="210312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0" y="2834640"/>
            <a:ext cx="2103120" cy="4572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02352" y="28620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STEP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38928" y="336499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CATEGORISE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38928" y="384048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Parse categories_tags
Assign 8 primary buckets
via keyword matching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1148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19" y="2834640"/>
            <a:ext cx="210312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60919" y="2834640"/>
            <a:ext cx="2103120" cy="4572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34071" y="28620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STEP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0647" y="336499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ANALYSE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0647" y="384048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Create Sugar vs Protein
quadrant matrix
Find Blue Ocean gap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39" y="41148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92640" y="2834640"/>
            <a:ext cx="210312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92640" y="2834640"/>
            <a:ext cx="2103120" cy="4572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65792" y="28620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STEP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02367" y="336499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EXPORT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02367" y="384048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Export clean CSV
for Power BI dashboard
and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The Nutrient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Sugar (X) vs Protein (Y) — Where Are the Products Clustered?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303520" cy="24231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30352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alibri"/>
              </a:rPr>
              <a:t>HIGH PROTEIN + LOW SUGAR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latin typeface="Calibri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2880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The Blue Ocean
Under-served market
OUR OPPORTUNITY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325880"/>
            <a:ext cx="5303520" cy="2423160"/>
          </a:xfrm>
          <a:prstGeom prst="rect">
            <a:avLst/>
          </a:prstGeom>
          <a:solidFill>
            <a:srgbClr val="2D1F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325880"/>
            <a:ext cx="5303520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463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  <a:latin typeface="Calibri"/>
              </a:rPr>
              <a:t>HIGH PROTEIN + HIGH SUGAR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latin typeface="Calibri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82880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Protein bars with
added sugar
Mixed signals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5303520" cy="2423160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53035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LOW PROTEIN + LOW SUGAR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348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latin typeface="Calibri"/>
              </a:rPr>
              <a:t>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43484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Plain crackers,
rice cakes
Low appeal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931920"/>
            <a:ext cx="5303520" cy="2423160"/>
          </a:xfrm>
          <a:prstGeom prst="rect">
            <a:avLst/>
          </a:prstGeom>
          <a:solidFill>
            <a:srgbClr val="2D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3931920"/>
            <a:ext cx="530352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Calibri"/>
              </a:rPr>
              <a:t>LOW PROTEIN + HIGH SUGAR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4348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latin typeface="Calibri"/>
              </a:rPr>
              <a:t>⚠️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43484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Candy, cookies,
sweet snacks
OVERSATURATED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← More Sugar  |  Less Sugar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1371600"/>
            <a:ext cx="640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↑ More
Protein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2C39A"/>
                </a:solidFill>
                <a:latin typeface="Calibri"/>
              </a:rPr>
              <a:t>Thresholds: Protein ≥ 10g/100g  |  Sugar ≤ 5g/100g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Georgia"/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41148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577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57784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latin typeface="Calibri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29844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Blue Ocean Gap Confirmed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Only a small fraction of products in high-demand categories occupy the High Protein + Low Sugar quadrant. The gap is real and measurable.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577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5778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latin typeface="Calibri"/>
              </a:rPr>
              <a:t>⚠️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29844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Sugar Trap Dominates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The majority of snack products fall in the Low Protein + High Sugar quadrant — confirming the client's hypothesis about market oversaturation.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5577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5577840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86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latin typeface="Calibri"/>
              </a:rPr>
              <a:t>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04487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Top Protein Sources Identified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80559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Whey, Soy, and Peanuts are the top 3 protein sources found in Blue Ocean products — clear benchmarks for R&amp;D formulation.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03320"/>
            <a:ext cx="5577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703320"/>
            <a:ext cx="557784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886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latin typeface="Calibri"/>
              </a:rPr>
              <a:t>🏷️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904487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Nutri-Score Advantage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80559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Blue Ocean products disproportionately score A or B on the Nutri-Score — giving new entrants a strong on-shelf health credibility signal.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The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What product should we build?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2560320"/>
          </a:xfrm>
          <a:prstGeom prst="rect">
            <a:avLst/>
          </a:prstGeom>
          <a:solidFill>
            <a:srgbClr val="0D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64592" cy="2560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📌  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Based on the data, the biggest market opportunity is in: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[YOUR TOP CATEGORY — e.g. Nuts &amp; Seeds / Protein Bars]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Specifically targeting products with [X]g of protein and less than [Y]g of sugar per 100g.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Fill these values from your notebook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069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R&amp;D ACTION ITEMS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26280"/>
            <a:ext cx="5577840" cy="868680"/>
          </a:xfrm>
          <a:prstGeom prst="rect">
            <a:avLst/>
          </a:prstGeom>
          <a:solidFill>
            <a:srgbClr val="0D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5994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Formulation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469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Minimum [X]g protein + &lt;[Y]g sugar per 100g serving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526280"/>
            <a:ext cx="5577840" cy="868680"/>
          </a:xfrm>
          <a:prstGeom prst="rect">
            <a:avLst/>
          </a:prstGeom>
          <a:solidFill>
            <a:srgbClr val="0D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5994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Key Ingredients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9469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Whey / Soy / Peanuts as primary protein sources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532120"/>
            <a:ext cx="5577840" cy="868680"/>
          </a:xfrm>
          <a:prstGeom prst="rect">
            <a:avLst/>
          </a:prstGeom>
          <a:solidFill>
            <a:srgbClr val="0D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6052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Regulatory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5274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Achieve Nutri-Score A or B for on-shelf credibility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5532120"/>
            <a:ext cx="5577840" cy="868680"/>
          </a:xfrm>
          <a:prstGeom prst="rect">
            <a:avLst/>
          </a:prstGeom>
          <a:solidFill>
            <a:srgbClr val="0D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6052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Market 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95274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Premium health snack — 'The Guilt-Free Crunch'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93B"/>
                </a:solidFill>
                <a:latin typeface="Georgia"/>
              </a:rPr>
              <a:t>Candidate's Choice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41148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47472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1A40"/>
                </a:solidFill>
                <a:latin typeface="Calibri"/>
              </a:rPr>
              <a:t>★  ADDED FEATURE: NUTRI-SCORE SHELF-APPEAL FILTER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539496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WHY I ADDED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A product can look great on a Sugar vs Protein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scatter plot — but still score poorly if it's high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in salt or saturated fat.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The Nutri-Score is a government-backed, consumer-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facing label used across Europe. By overlaying it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on our Blue Ocean quadrant, we can identify the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"Prime Targets" — products that are: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  ✅  High Protein + Low Sugar  (our quadrant)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  ✅  Grade A or B  (shelf-ready credibility)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This gives R&amp;D a legally defensible benchmark,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not just a data point.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572768"/>
            <a:ext cx="5852160" cy="30175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7190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NUTRI-SCORE SCALE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240280"/>
            <a:ext cx="457200" cy="384048"/>
          </a:xfrm>
          <a:prstGeom prst="rect">
            <a:avLst/>
          </a:prstGeom>
          <a:solidFill>
            <a:srgbClr val="03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24028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2768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Excellent — Prime Target 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697480"/>
            <a:ext cx="457200" cy="384048"/>
          </a:xfrm>
          <a:prstGeom prst="rect">
            <a:avLst/>
          </a:prstGeom>
          <a:solidFill>
            <a:srgbClr val="85B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69748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7340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Good — Prime Target 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154680"/>
            <a:ext cx="457200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15468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1912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Average — Acceptable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611880"/>
            <a:ext cx="457200" cy="384048"/>
          </a:xfrm>
          <a:prstGeom prst="rect">
            <a:avLst/>
          </a:prstGeom>
          <a:solidFill>
            <a:srgbClr val="EF8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61188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6484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Poor — Avoid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069080"/>
            <a:ext cx="457200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06908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105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Bad — Disqualified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754880"/>
            <a:ext cx="11430000" cy="914400"/>
          </a:xfrm>
          <a:prstGeom prst="rect">
            <a:avLst/>
          </a:prstGeom>
          <a:solidFill>
            <a:srgbClr val="CC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293B"/>
                </a:solidFill>
                <a:latin typeface="Calibri"/>
              </a:rPr>
              <a:t>Business Value: This filter reduces the candidate product list to only those that are both data-validated AND commercially launch-ready — saving R&amp;D time and regulatory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Findings · Recommendation ·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7863840" cy="713232"/>
          </a:xfrm>
          <a:prstGeom prst="rect">
            <a:avLst/>
          </a:prstGeom>
          <a:solidFill>
            <a:srgbClr val="0D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9903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Calibri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41732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500,000 snack products analysed from the Open Food Facts global database.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48840"/>
            <a:ext cx="7863840" cy="713232"/>
          </a:xfrm>
          <a:prstGeom prst="rect">
            <a:avLst/>
          </a:prstGeom>
          <a:solidFill>
            <a:srgbClr val="0D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2199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Calibri"/>
              </a:rPr>
              <a:t>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4028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The market is dominated by High Sugar + Low Protein products across all major categories — the Sugar Trap is real.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7863840" cy="713232"/>
          </a:xfrm>
          <a:prstGeom prst="rect">
            <a:avLst/>
          </a:prstGeom>
          <a:solidFill>
            <a:srgbClr val="0D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4495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Calibri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6324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[YOUR CATEGORY] shows the highest gap ratio between Sugar Trap products and Blue Ocean alternatives.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7863840" cy="713232"/>
          </a:xfrm>
          <a:prstGeom prst="rect">
            <a:avLst/>
          </a:prstGeom>
          <a:solidFill>
            <a:srgbClr val="0D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6791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Calibri"/>
              </a:rPr>
              <a:t>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88620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Top protein sources in successful products: Whey, Soy, and Peanuts — clear formulation benchmarks.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17720"/>
            <a:ext cx="7863840" cy="713232"/>
          </a:xfrm>
          <a:prstGeom prst="rect">
            <a:avLst/>
          </a:prstGeom>
          <a:solidFill>
            <a:srgbClr val="0D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69087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Calibri"/>
              </a:rPr>
              <a:t>🏷️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09159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Blue Ocean products that also score A/B on Nutri-Score represent the highest-value launch targets.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1325880"/>
            <a:ext cx="3474720" cy="4846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463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  <a:latin typeface="Calibri"/>
              </a:rPr>
              <a:t>NEXT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01168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  <a:latin typeface="Calibri"/>
              </a:rPr>
              <a:t>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0116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  <a:latin typeface="Calibri"/>
              </a:rPr>
              <a:t>Share dashboard with
R&amp;D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83464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  <a:latin typeface="Calibri"/>
              </a:rPr>
              <a:t>2.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8346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  <a:latin typeface="Calibri"/>
              </a:rPr>
              <a:t>Confirm protein source
supply 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65760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  <a:latin typeface="Calibri"/>
              </a:rPr>
              <a:t>3.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6576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  <a:latin typeface="Calibri"/>
              </a:rPr>
              <a:t>Commission consumer
taste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48056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  <a:latin typeface="Calibri"/>
              </a:rPr>
              <a:t>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44805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  <a:latin typeface="Calibri"/>
              </a:rPr>
              <a:t>Set Nutri-Score A/B
as launch criterion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30352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  <a:latin typeface="Calibri"/>
              </a:rPr>
              <a:t>5.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530352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  <a:latin typeface="Calibri"/>
              </a:rPr>
              <a:t>Define go-to-market
regions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355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1A40"/>
                </a:solidFill>
                <a:latin typeface="Calibri"/>
              </a:rPr>
              <a:t>Thank you  |  Questions?  |  [Your Name] — AmaliTech Data Engineering 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